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e77cffc3124377" /><Relationship Type="http://schemas.openxmlformats.org/officeDocument/2006/relationships/extended-properties" Target="/docProps/app.xml" Id="R5d4e7ce250754986" /><Relationship Type="http://schemas.openxmlformats.org/officeDocument/2006/relationships/officeDocument" Target="/ppt/presentation.xml" Id="R465eeb8784f04a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52941a18a14170"/>
  </p:sldMasterIdLst>
  <p:notesMasterIdLst>
    <p:notesMasterId xmlns:r="http://schemas.openxmlformats.org/officeDocument/2006/relationships" r:id="R7f45d82720bc4a65"/>
  </p:notesMasterIdLst>
  <p:sldIdLst>
    <p:sldId xmlns:r="http://schemas.openxmlformats.org/officeDocument/2006/relationships" id="256" r:id="Rcd1c49838f9f4653"/>
    <p:sldId xmlns:r="http://schemas.openxmlformats.org/officeDocument/2006/relationships" id="257" r:id="R0bb7f61e993a4937"/>
    <p:sldId xmlns:r="http://schemas.openxmlformats.org/officeDocument/2006/relationships" id="258" r:id="R2e54569dcedf4d14"/>
    <p:sldId xmlns:r="http://schemas.openxmlformats.org/officeDocument/2006/relationships" id="259" r:id="Rae254ba2df8e4af6"/>
    <p:sldId xmlns:r="http://schemas.openxmlformats.org/officeDocument/2006/relationships" id="260" r:id="Rb33711a0885e4207"/>
    <p:sldId xmlns:r="http://schemas.openxmlformats.org/officeDocument/2006/relationships" id="261" r:id="R17dc3e25ffc7458b"/>
    <p:sldId xmlns:r="http://schemas.openxmlformats.org/officeDocument/2006/relationships" id="262" r:id="Refd255209dbf4f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cb406db2484e11" /><Relationship Type="http://schemas.openxmlformats.org/officeDocument/2006/relationships/slideMaster" Target="/ppt/slideMasters/slideMaster1.xml" Id="R1f52941a18a14170" /><Relationship Type="http://schemas.openxmlformats.org/officeDocument/2006/relationships/notesMaster" Target="/ppt/notesMasters/notesMaster1.xml" Id="R7f45d82720bc4a65" /><Relationship Type="http://schemas.openxmlformats.org/officeDocument/2006/relationships/presProps" Target="/ppt/presProps.xml" Id="R950bb33b93b14c60" /><Relationship Type="http://schemas.openxmlformats.org/officeDocument/2006/relationships/tableStyles" Target="/ppt/tableStyles.xml" Id="R319db8e68b954e17" /><Relationship Type="http://schemas.openxmlformats.org/officeDocument/2006/relationships/slide" Target="/ppt/slides/slide1.xml" Id="Rcd1c49838f9f4653" /><Relationship Type="http://schemas.openxmlformats.org/officeDocument/2006/relationships/slide" Target="/ppt/slides/slide2.xml" Id="R0bb7f61e993a4937" /><Relationship Type="http://schemas.openxmlformats.org/officeDocument/2006/relationships/slide" Target="/ppt/slides/slide3.xml" Id="R2e54569dcedf4d14" /><Relationship Type="http://schemas.openxmlformats.org/officeDocument/2006/relationships/slide" Target="/ppt/slides/slide4.xml" Id="Rae254ba2df8e4af6" /><Relationship Type="http://schemas.openxmlformats.org/officeDocument/2006/relationships/slide" Target="/ppt/slides/slide5.xml" Id="Rb33711a0885e4207" /><Relationship Type="http://schemas.openxmlformats.org/officeDocument/2006/relationships/slide" Target="/ppt/slides/slide6.xml" Id="R17dc3e25ffc7458b" /><Relationship Type="http://schemas.openxmlformats.org/officeDocument/2006/relationships/slide" Target="/ppt/slides/slide7.xml" Id="Refd255209dbf4f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3f33c48141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418f7656fc450d" /><Relationship Type="http://schemas.openxmlformats.org/officeDocument/2006/relationships/notesMaster" Target="/ppt/notesMasters/notesMaster1.xml" Id="R338b63544d8b49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750d59a93140fe" /><Relationship Type="http://schemas.openxmlformats.org/officeDocument/2006/relationships/notesMaster" Target="/ppt/notesMasters/notesMaster1.xml" Id="Rce348ca3f2a641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3b761cfa1a4cb6" /><Relationship Type="http://schemas.openxmlformats.org/officeDocument/2006/relationships/notesMaster" Target="/ppt/notesMasters/notesMaster1.xml" Id="R801f97c466e143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094c8daf434102" /><Relationship Type="http://schemas.openxmlformats.org/officeDocument/2006/relationships/notesMaster" Target="/ppt/notesMasters/notesMaster1.xml" Id="Rad4193f759154e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4adfd1be1b46a4" /><Relationship Type="http://schemas.openxmlformats.org/officeDocument/2006/relationships/notesMaster" Target="/ppt/notesMasters/notesMaster1.xml" Id="R054674025bbb45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fee4f36346450e" /><Relationship Type="http://schemas.openxmlformats.org/officeDocument/2006/relationships/notesMaster" Target="/ppt/notesMasters/notesMaster1.xml" Id="Rb1f252d400ee4d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9b59fbce49460c" /><Relationship Type="http://schemas.openxmlformats.org/officeDocument/2006/relationships/notesMaster" Target="/ppt/notesMasters/notesMaster1.xml" Id="R45630fb4c9cd45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GraphSentinel connects graph evidence, resolved-case memory, model review, and deterministic fraud policy in one analyst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docs/README.md and the validated HHGOA dataset in the project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tool plan is filtered through an allowlist. Policy routes, exposure arithmetic, and human approvals remain deterministic.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output/hhgoa/cases/HHG-014.json. Use this case in the live demo because it shows graph discovery, an undocumented pattern, SAR generation, and human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allowlist contains only fraud_case_context, card_window, device_neighbors, similar_resolved_cases, policy_lookup, and answer_contract_check.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the 20 validated JSON files under output/hhgoa/cases and the server test suite. Two additional real-instance TigerGraph tests run when live credentials are enabled.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emphasizing reproducibility: streaming load scripts, installed GSQL queries, atomic case writeback, 20 validated answer files, and a secret-free submission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4d463dd7443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5ec4faf1904244" /><Relationship Type="http://schemas.openxmlformats.org/officeDocument/2006/relationships/slideLayout" Target="/ppt/slideLayouts/slideLayout1.xml" Id="R59845f7c4c6c44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845f7c4c6c44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ae3b5566f4443" /><Relationship Type="http://schemas.openxmlformats.org/officeDocument/2006/relationships/notesSlide" Target="/ppt/notesSlides/notesSlide1.xml" Id="Rdaec4d20933d49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e9ad58adf4676" /><Relationship Type="http://schemas.openxmlformats.org/officeDocument/2006/relationships/notesSlide" Target="/ppt/notesSlides/notesSlide2.xml" Id="Rfb4d3b5a62ec45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24da31687454f" /><Relationship Type="http://schemas.openxmlformats.org/officeDocument/2006/relationships/notesSlide" Target="/ppt/notesSlides/notesSlide3.xml" Id="R57fa4fd34a4246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dfd14eb164220" /><Relationship Type="http://schemas.openxmlformats.org/officeDocument/2006/relationships/notesSlide" Target="/ppt/notesSlides/notesSlide4.xml" Id="Ra7cc31bb55d941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378e083a64ed4" /><Relationship Type="http://schemas.openxmlformats.org/officeDocument/2006/relationships/notesSlide" Target="/ppt/notesSlides/notesSlide5.xml" Id="R520d6f2959a748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e91767db747f7" /><Relationship Type="http://schemas.openxmlformats.org/officeDocument/2006/relationships/chart" Target="/ppt/slides/charts/chart1.xml" Id="R08973c28cea04fc1" /><Relationship Type="http://schemas.openxmlformats.org/officeDocument/2006/relationships/notesSlide" Target="/ppt/notesSlides/notesSlide6.xml" Id="R506c96963e6b46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7b8165b4a4538" /><Relationship Type="http://schemas.openxmlformats.org/officeDocument/2006/relationships/notesSlide" Target="/ppt/notesSlides/notesSlide7.xml" Id="Rdc0a1cd9f0e1449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Cases</c:v>
          </c:tx>
          <c:spPr>
            <a:solidFill xmlns:a="http://schemas.openxmlformats.org/drawingml/2006/main">
              <a:srgbClr val="2D8A77"/>
            </a:solidFill>
          </c:spPr>
          <c:cat>
            <c:strRef>
              <c:f>'Chart Data'!$A$2:$A$3</c:f>
              <c:strCache>
                <c:ptCount val="2"/>
                <c:pt idx="0">
                  <c:v>Legitimate</c:v>
                </c:pt>
                <c:pt idx="1">
                  <c:v>Fraud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</c:v>
                </c:pt>
                <c:pt idx="1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79F03-3BFF-4728-9A4D-C226820F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C2AE5-F1FE-45B2-87D3-814A617B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GraphSentinel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5B8FE-C412-4224-AB0A-8A6742B8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DD3C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DD3CE"/>
                </a:solidFill>
                <a:latin typeface="Arial"/>
                <a:ea typeface="Arial"/>
                <a:cs typeface="Arial"/>
              </a:rPr>
              <a:t>Agentic fraud investigation for TigerGraph HHGOA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585F3-5F64-41D3-A370-1BC4C7AD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8A9A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8A9A2"/>
                </a:solidFill>
                <a:latin typeface="Arial"/>
                <a:ea typeface="Arial"/>
                <a:cs typeface="Arial"/>
              </a:rPr>
              <a:t>Evidence-led decisions with deterministic policy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30837-C272-4C05-B89E-C50179AB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971550"/>
            <a:ext cx="2038350" cy="2038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7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57C26-B118-4439-AC70-BB452EA3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09700"/>
            <a:ext cx="1390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5B0D2-7F6D-41C4-ACD6-96AFFBFA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 benchmark cases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590,742 transactions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SAR and action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850A9-939F-4FDF-9761-99231C9A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715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8A9A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8A9A2"/>
                </a:solidFill>
                <a:latin typeface="Arial"/>
                <a:ea typeface="Arial"/>
                <a:cs typeface="Arial"/>
              </a:rPr>
              <a:t>Hackathon submission</a:t>
            </a:r>
          </a:p>
        </p:txBody>
      </p:sp>
    </p:spTree>
    <p:extLst>
      <p:ext uri="{BB962C8B-B14F-4D97-AF65-F5344CB8AC3E}">
        <p14:creationId xmlns:p14="http://schemas.microsoft.com/office/powerpoint/2010/main" val="1150619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6810F-1979-4391-82CA-6863929D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ED9B0-71AC-4846-AC00-FA0048A8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The investigation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4D981-4E2B-40A8-8932-735C69EA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6DDCA-9C37-4B00-913F-209D07ED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7CABD-065F-41C7-959A-75A90AB1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Fraud alerts arrive as isolated signals. Analysts need the connected history before they can 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7A436-44DB-44B5-8C51-21553F02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590,742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DF477-A1A7-41BB-843F-271B4BD5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transactions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BC27F-8BC4-4351-A65B-666BFFF3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144,432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CCF93-AE3D-4D49-BDFC-BBEA98A5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identity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3EF46-7A74-4F6B-8CBA-FB8E58E1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5,565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2D06A-67A1-483F-B494-EF92CCD3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resolved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3B867-09A0-4617-BE90-4CADD93A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574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B542B-9188-4B90-9BAC-C7B90AD8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judged alerts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FD0AB-DFBE-4F7B-B11A-3019FFBE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B2D29-2EE5-4438-BB5E-06CE28FB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GraphSentinel joins transactions with cards, customers, devices, regions, emails, and prior outcomes. The agent stops when the evidence supports a defensible decision.</a:t>
            </a:r>
          </a:p>
        </p:txBody>
      </p:sp>
    </p:spTree>
    <p:extLst>
      <p:ext uri="{BB962C8B-B14F-4D97-AF65-F5344CB8AC3E}">
        <p14:creationId xmlns:p14="http://schemas.microsoft.com/office/powerpoint/2010/main" val="1506595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DF90BD-E84B-4DB9-9A94-A0DD6473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5DDBC-278E-467C-9233-1A36CFD4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Investigation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BF1A2-CD48-4BD8-A536-957700A9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C0DA7-5AE6-482F-84B0-BE4F6A76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35153-1AF4-4382-9D55-ED8AE777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19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Read-only graph tools gather evidence. Models explain and suggest tools. Code controls policy and approval.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01D26-3366-4CA4-A915-CEB5641C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86A03-53B9-498B-AE64-90545CD9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7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3CCE9-05AC-43FD-9943-BEBFAFF1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BC7AB-082A-40CF-B92C-221FFD07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TigerGraph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6DA05-17F2-4AEA-9FE0-98C461F0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32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Entity context</a:t>
            </a:r>
          </a:p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and case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6A593-64D8-4AF2-A6C4-1903D734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24853-3DF4-46AF-AC25-592DC4C5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B9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5ACD2-B499-4095-84B0-4DB4ECE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05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97B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7B9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3D226-B790-4B28-A776-D4D84D17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Deterministic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36AAF-3CC8-4A3C-BB75-8FA69726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33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Risk, exposure,</a:t>
            </a:r>
          </a:p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pattern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D4FB2-E65E-4B0C-A33D-15DB65DB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DAA8B-BE14-4310-9D2B-64F19DFD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E9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AD4D8-408F-4926-ADE8-8EE91A7E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05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35E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35E9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7C94C-DAA7-45CE-9543-55226462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48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5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Model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EBA26-9DA0-4244-8B22-6F8BE20C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33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0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Evidence explanation</a:t>
            </a:r>
          </a:p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and tool votes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E36BA-46A1-425E-B06E-80F4207C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3DFC1-3B05-49A1-8621-EC9030CF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23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0F1F1-6F57-4DB7-A21C-01505666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05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392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392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D723F-CCC5-40DD-99D9-1EB083DF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5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Policy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BD5AC-E7D1-42BC-A852-C41C87A4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33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R1–R10 rules</a:t>
            </a:r>
          </a:p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and routes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FC28C-D2C5-4173-BEF0-F7D0C4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00584-6E2C-490D-A703-8C27CF3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8A232-1581-407A-9422-8F1E256C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05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F7F619-7CF5-4363-97DC-433C475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48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7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Analyst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5DB9D3-28D0-4513-9DC8-1CD642FE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33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Approve, challenge,</a:t>
            </a:r>
          </a:p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or escalate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D9816A-18F4-4701-938B-B817F30C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387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8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4E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4E3D"/>
                </a:solidFill>
                <a:latin typeface="Arial"/>
                <a:ea typeface="Arial"/>
                <a:cs typeface="Arial"/>
              </a:rPr>
              <a:t>No model receives permission to execute a restricted action</a:t>
            </a:r>
          </a:p>
        </p:txBody>
      </p:sp>
    </p:spTree>
    <p:extLst>
      <p:ext uri="{BB962C8B-B14F-4D97-AF65-F5344CB8AC3E}">
        <p14:creationId xmlns:p14="http://schemas.microsoft.com/office/powerpoint/2010/main" val="874037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611FE-A26F-4391-A3FB-D63A01EA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FDBC2-C8F4-4368-BBA2-D990D286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Case HHG-014: shared-device fraud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03579-B859-4ECA-85E2-62657482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DC3D9-EE14-479B-9ADE-DEEB3B7F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7B93E-78DD-44B2-BFC9-4103C47A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287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One device profile exposed coordinated activity across unrelated customers.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847E0-04CB-45C1-A428-1505FD9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3131D-BCEF-41E4-9DA1-048CB2C9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related transactions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5BE2F-46CA-44D3-BB2F-0A5E0BEB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94E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94E3D"/>
                </a:solidFill>
                <a:latin typeface="Arial"/>
                <a:ea typeface="Arial"/>
                <a:cs typeface="Arial"/>
              </a:rPr>
              <a:t>$6,214.17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F7407-1358-4A77-A65D-6C25E5C2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432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identified exposure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2821D-E919-4A6B-9B55-EA309762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9A85A-3874-45B6-B195-14A1D9FC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connected 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2AAB2-AC6F-4CE2-98DC-F7A5BA33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19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0.96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BAC1C-A9D5-4296-A9E2-F68E2462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719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fraud 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87F24-71E9-4167-87D6-38A6C177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905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E5DD1-067D-4D0D-A9AF-76EC53DA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24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What the graph found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45E38-DAE6-4C53-8A10-FA124489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05125"/>
            <a:ext cx="4048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A new mobile device used an anonymous proxy.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The same detailed profile linked 12 mapped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Resolved cases matched the undocumented pattern.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B7682-324F-4755-A5BD-E10D83EE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2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Final route: create case, file SAR with L2 approval, monitor connected cards, escalate</a:t>
            </a:r>
          </a:p>
        </p:txBody>
      </p:sp>
    </p:spTree>
    <p:extLst>
      <p:ext uri="{BB962C8B-B14F-4D97-AF65-F5344CB8AC3E}">
        <p14:creationId xmlns:p14="http://schemas.microsoft.com/office/powerpoint/2010/main" val="1309812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9743B-D84C-485E-A7E7-78EF1583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F85EA-A505-487E-87A6-8AB3194D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Model advice and deterministic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56628-A1FB-4DEE-A4E6-0EBC3232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DF93C-21F2-40E9-B4C5-17508C7B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13A9F-0672-47A6-9D99-A1A4C2AC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The design separates reasoning assistance from authority.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36D7B-1FE3-4E27-9979-95305ED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Models contribute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DF231-4A96-4016-883F-7006B633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Evidence explanation</a:t>
            </a:r>
          </a:p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Fraud probability opinion</a:t>
            </a:r>
          </a:p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Pattern hypothesis</a:t>
            </a:r>
          </a:p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Read-only tool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356C6-65C2-487A-B7E7-D9BF787A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027AB-87DD-4217-88FB-AE8CBB99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Code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805E0-68C9-4CE2-B058-4704B73D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Policy R1–R10</a:t>
            </a:r>
          </a:p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Exposure calculation</a:t>
            </a:r>
          </a:p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Action routes: auto, L1, L2</a:t>
            </a:r>
          </a:p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Human approval boundaries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19500-BD3A-4CF8-8348-91FC7975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17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656FA-A6AC-4F58-B35D-94418755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17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4E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4E3D"/>
                </a:solidFill>
                <a:latin typeface="Arial"/>
                <a:ea typeface="Arial"/>
                <a:cs typeface="Arial"/>
              </a:rPr>
              <a:t>Provider failure never weakens policy. The deterministic baseline remains available.</a:t>
            </a:r>
          </a:p>
        </p:txBody>
      </p:sp>
    </p:spTree>
    <p:extLst>
      <p:ext uri="{BB962C8B-B14F-4D97-AF65-F5344CB8AC3E}">
        <p14:creationId xmlns:p14="http://schemas.microsoft.com/office/powerpoint/2010/main" val="12312361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A2995-ED51-4C58-87E0-4B74F209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62719-0F1B-4893-9853-E98F0194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Validated benchmark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B5293-2D37-43FE-AE5F-B7437105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F44F7-F0F2-4E1F-A2B4-161D6D6C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5619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973c28cea04fc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08707-E21A-486F-B03D-51E31DBE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9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20/20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954F6-FF50-4CA8-BBA7-316C78D0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7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answer files pass the submission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89B4A-357E-4DE6-B48E-E9EA082D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11FE5-641C-4561-8DA6-D5E6B35D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SAR filings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F0FF4-A064-450A-A94F-7C31F7B3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94E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94E3D"/>
                </a:solidFill>
                <a:latin typeface="Arial"/>
                <a:ea typeface="Arial"/>
                <a:cs typeface="Arial"/>
              </a:rPr>
              <a:t>$11,872.38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895C8-CCC5-4E61-9FA1-DB40B644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fraud exposure identified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B2F12-1F72-49FD-AC85-619AA56C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16 automated checks cover policy, auth, model failover, query contracts, and writeback</a:t>
            </a:r>
          </a:p>
        </p:txBody>
      </p:sp>
    </p:spTree>
    <p:extLst>
      <p:ext uri="{BB962C8B-B14F-4D97-AF65-F5344CB8AC3E}">
        <p14:creationId xmlns:p14="http://schemas.microsoft.com/office/powerpoint/2010/main" val="674845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06097-2052-45B5-BC73-90BDB861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472CC-B60F-465D-BB1D-EB80A0EF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Three-minute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70785-F7AA-429C-A75B-8192348F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40919-C1B7-4057-AFF0-16CEFCC5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73C1E-6513-42A4-9261-9E72DF0B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00:00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68DA8-5F2E-4A55-B006-69FB0D3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716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Open HHG-014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0BF83-E0BB-43DD-AC81-ED550E74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71625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Show the shared-device investigation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A57B1-96F5-415C-AE4F-865B9101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861E7-591D-4698-8F2C-38D3D9CA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00:35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52967-E3F4-4A5F-BBFB-C118C44D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5267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Run the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51BE2-A114-4250-AAC6-DF650458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52675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Follow evidence retrieval, model review, and policy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F20A7-ED7C-4DD7-912E-AB856901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43DB6-1ABB-4D32-AC85-84F323EA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01:25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D9D58-0532-4590-8F21-AAF9331C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337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Review the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1E2B1-ABE9-422F-86E0-D7F490C8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33725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Explain L2 approval for the SAR filing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6EFC9-3997-4C34-8192-5BF5A526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C506C-EA23-4E8E-B599-D7F2611B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02:05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2F39D-FA74-4F89-9BD3-FDE02F94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1477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Open SAR and 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646D5-74C4-444D-A4F1-894CECF0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14775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Show the regulator narrative and complete 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8D092-7806-4D02-9FCE-3C4E6159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273DC-8C24-4B22-B8AF-20563352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02:40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78F9D-89CE-4337-8BFD-59278CA1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958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Confirm writeback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F13B79-6B1A-4EB7-BCB6-2C02A77E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Retrieve the InvestigationCase from TigerGraph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F14D7-448B-49B6-ABAB-3E5FB776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FABC0-40F2-4A5B-A35E-D7CD5E74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57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GraphSentinel gives analysts the evidence, policy route, and audit record in one workflow.</a:t>
            </a:r>
          </a:p>
        </p:txBody>
      </p:sp>
    </p:spTree>
    <p:extLst>
      <p:ext uri="{BB962C8B-B14F-4D97-AF65-F5344CB8AC3E}">
        <p14:creationId xmlns:p14="http://schemas.microsoft.com/office/powerpoint/2010/main" val="776859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2026-09-20T12:20:59.9600000Z</dcterms:created>
  <dcterms:modified xsi:type="dcterms:W3CDTF">2026-09-20T12:20:59.9600000Z</dcterms:modified>
</coreProperties>
</file>